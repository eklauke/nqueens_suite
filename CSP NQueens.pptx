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60" r:id="rId3"/>
    <p:sldId id="268" r:id="rId4"/>
    <p:sldId id="259" r:id="rId5"/>
    <p:sldId id="258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EE6A-83C8-40DD-84F0-54BE7FFA3B6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2E00-3CC1-45C0-BA5A-2A2FDF8BE22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38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EE6A-83C8-40DD-84F0-54BE7FFA3B6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2E00-3CC1-45C0-BA5A-2A2FDF8BE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97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EE6A-83C8-40DD-84F0-54BE7FFA3B6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2E00-3CC1-45C0-BA5A-2A2FDF8BE22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241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EE6A-83C8-40DD-84F0-54BE7FFA3B6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2E00-3CC1-45C0-BA5A-2A2FDF8BE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1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EE6A-83C8-40DD-84F0-54BE7FFA3B6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2E00-3CC1-45C0-BA5A-2A2FDF8BE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40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EE6A-83C8-40DD-84F0-54BE7FFA3B6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2E00-3CC1-45C0-BA5A-2A2FDF8BE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11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EE6A-83C8-40DD-84F0-54BE7FFA3B6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2E00-3CC1-45C0-BA5A-2A2FDF8BE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117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977EE6A-83C8-40DD-84F0-54BE7FFA3B6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A02E00-3CC1-45C0-BA5A-2A2FDF8BE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90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EE6A-83C8-40DD-84F0-54BE7FFA3B6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2E00-3CC1-45C0-BA5A-2A2FDF8BE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18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EE6A-83C8-40DD-84F0-54BE7FFA3B6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2E00-3CC1-45C0-BA5A-2A2FDF8BE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67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EE6A-83C8-40DD-84F0-54BE7FFA3B6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2E00-3CC1-45C0-BA5A-2A2FDF8BE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9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77EE6A-83C8-40DD-84F0-54BE7FFA3B6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7A02E00-3CC1-45C0-BA5A-2A2FDF8BE22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77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C8147-4952-CA97-4FE0-F244ED711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Constraint Satisfaction Problem Methods</a:t>
            </a:r>
            <a:br>
              <a:rPr lang="en-US" sz="4000" dirty="0"/>
            </a:br>
            <a:r>
              <a:rPr lang="en-US" dirty="0"/>
              <a:t>for N-Queens</a:t>
            </a:r>
          </a:p>
        </p:txBody>
      </p:sp>
    </p:spTree>
    <p:extLst>
      <p:ext uri="{BB962C8B-B14F-4D97-AF65-F5344CB8AC3E}">
        <p14:creationId xmlns:p14="http://schemas.microsoft.com/office/powerpoint/2010/main" val="1598192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1B414-C6C0-910B-F5AE-4BB669B03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DED3-3985-F4B7-0B67-6ACB30F2A6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" y="95250"/>
            <a:ext cx="10058400" cy="822325"/>
          </a:xfrm>
        </p:spPr>
        <p:txBody>
          <a:bodyPr>
            <a:normAutofit/>
          </a:bodyPr>
          <a:lstStyle/>
          <a:p>
            <a:r>
              <a:rPr lang="en-US" dirty="0"/>
              <a:t>Early Implementation Ideas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241006-9256-35CC-842D-A8F39CFEFE6C}"/>
              </a:ext>
            </a:extLst>
          </p:cNvPr>
          <p:cNvSpPr txBox="1">
            <a:spLocks/>
          </p:cNvSpPr>
          <p:nvPr/>
        </p:nvSpPr>
        <p:spPr>
          <a:xfrm>
            <a:off x="6582156" y="917573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Complications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FE58A2-B620-0F40-C81C-1F3199A52006}"/>
              </a:ext>
            </a:extLst>
          </p:cNvPr>
          <p:cNvSpPr txBox="1">
            <a:spLocks/>
          </p:cNvSpPr>
          <p:nvPr/>
        </p:nvSpPr>
        <p:spPr>
          <a:xfrm>
            <a:off x="64008" y="1443522"/>
            <a:ext cx="6175248" cy="5927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1800" dirty="0"/>
              <a:t>The board is a vector of integer pairs, where each pair represents the coordinates of a Queen.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60EFD0A-1189-5A68-1193-3ACD53BC9F5F}"/>
              </a:ext>
            </a:extLst>
          </p:cNvPr>
          <p:cNvSpPr txBox="1">
            <a:spLocks/>
          </p:cNvSpPr>
          <p:nvPr/>
        </p:nvSpPr>
        <p:spPr>
          <a:xfrm>
            <a:off x="76200" y="917573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Representing the Board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185A40F-3175-2C89-29AD-9CE393744B73}"/>
              </a:ext>
            </a:extLst>
          </p:cNvPr>
          <p:cNvSpPr txBox="1">
            <a:spLocks/>
          </p:cNvSpPr>
          <p:nvPr/>
        </p:nvSpPr>
        <p:spPr>
          <a:xfrm>
            <a:off x="6582156" y="1576068"/>
            <a:ext cx="5474208" cy="48338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board must check the entire vector to know if a row/column is already taken.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600" dirty="0">
                <a:sym typeface="Wingdings" panose="05000000000000000000" pitchFamily="2" charset="2"/>
              </a:rPr>
              <a:t>What if the algorithm could access a row and know it has a Queen?</a:t>
            </a:r>
          </a:p>
          <a:p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board is checked for validity in its current state, but it has no idea if a board will inevitably fail.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600" dirty="0">
                <a:sym typeface="Wingdings" panose="05000000000000000000" pitchFamily="2" charset="2"/>
              </a:rPr>
              <a:t>What if we maintained the possible placements of each Queen, so we know instantly when a Queen no longer has any valid position?</a:t>
            </a:r>
          </a:p>
          <a:p>
            <a:endParaRPr lang="en-US" sz="16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Queens are always placed in the first available spot it sees.</a:t>
            </a:r>
          </a:p>
          <a:p>
            <a:r>
              <a:rPr lang="en-US" sz="1600" dirty="0">
                <a:sym typeface="Wingdings" panose="05000000000000000000" pitchFamily="2" charset="2"/>
              </a:rPr>
              <a:t>  What if we changed the order of placements to find a valid solution more efficiently?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7188AF-98FA-9E6C-4862-258BF55A0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109758"/>
              </p:ext>
            </p:extLst>
          </p:nvPr>
        </p:nvGraphicFramePr>
        <p:xfrm>
          <a:off x="219075" y="2240592"/>
          <a:ext cx="3029709" cy="3104775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383677">
                  <a:extLst>
                    <a:ext uri="{9D8B030D-6E8A-4147-A177-3AD203B41FA5}">
                      <a16:colId xmlns:a16="http://schemas.microsoft.com/office/drawing/2014/main" val="1751403569"/>
                    </a:ext>
                  </a:extLst>
                </a:gridCol>
                <a:gridCol w="330754">
                  <a:extLst>
                    <a:ext uri="{9D8B030D-6E8A-4147-A177-3AD203B41FA5}">
                      <a16:colId xmlns:a16="http://schemas.microsoft.com/office/drawing/2014/main" val="192378848"/>
                    </a:ext>
                  </a:extLst>
                </a:gridCol>
                <a:gridCol w="330754">
                  <a:extLst>
                    <a:ext uri="{9D8B030D-6E8A-4147-A177-3AD203B41FA5}">
                      <a16:colId xmlns:a16="http://schemas.microsoft.com/office/drawing/2014/main" val="1693650801"/>
                    </a:ext>
                  </a:extLst>
                </a:gridCol>
                <a:gridCol w="330754">
                  <a:extLst>
                    <a:ext uri="{9D8B030D-6E8A-4147-A177-3AD203B41FA5}">
                      <a16:colId xmlns:a16="http://schemas.microsoft.com/office/drawing/2014/main" val="816402099"/>
                    </a:ext>
                  </a:extLst>
                </a:gridCol>
                <a:gridCol w="330754">
                  <a:extLst>
                    <a:ext uri="{9D8B030D-6E8A-4147-A177-3AD203B41FA5}">
                      <a16:colId xmlns:a16="http://schemas.microsoft.com/office/drawing/2014/main" val="2301692034"/>
                    </a:ext>
                  </a:extLst>
                </a:gridCol>
                <a:gridCol w="330754">
                  <a:extLst>
                    <a:ext uri="{9D8B030D-6E8A-4147-A177-3AD203B41FA5}">
                      <a16:colId xmlns:a16="http://schemas.microsoft.com/office/drawing/2014/main" val="31699259"/>
                    </a:ext>
                  </a:extLst>
                </a:gridCol>
                <a:gridCol w="330754">
                  <a:extLst>
                    <a:ext uri="{9D8B030D-6E8A-4147-A177-3AD203B41FA5}">
                      <a16:colId xmlns:a16="http://schemas.microsoft.com/office/drawing/2014/main" val="2959622088"/>
                    </a:ext>
                  </a:extLst>
                </a:gridCol>
                <a:gridCol w="330754">
                  <a:extLst>
                    <a:ext uri="{9D8B030D-6E8A-4147-A177-3AD203B41FA5}">
                      <a16:colId xmlns:a16="http://schemas.microsoft.com/office/drawing/2014/main" val="3809554995"/>
                    </a:ext>
                  </a:extLst>
                </a:gridCol>
                <a:gridCol w="330754">
                  <a:extLst>
                    <a:ext uri="{9D8B030D-6E8A-4147-A177-3AD203B41FA5}">
                      <a16:colId xmlns:a16="http://schemas.microsoft.com/office/drawing/2014/main" val="3286897189"/>
                    </a:ext>
                  </a:extLst>
                </a:gridCol>
              </a:tblGrid>
              <a:tr h="344975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marL="65760" marR="65760" marT="32880" marB="3288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5760" marR="65760" marT="32880" marB="3288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5760" marR="65760" marT="32880" marB="3288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65760" marR="65760" marT="32880" marB="3288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65760" marR="65760" marT="32880" marB="3288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65760" marR="65760" marT="32880" marB="3288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65760" marR="65760" marT="32880" marB="3288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65760" marR="65760" marT="32880" marB="3288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65760" marR="65760" marT="32880" marB="3288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747511"/>
                  </a:ext>
                </a:extLst>
              </a:tr>
              <a:tr h="344975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0</a:t>
                      </a:r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extLst>
                  <a:ext uri="{0D108BD9-81ED-4DB2-BD59-A6C34878D82A}">
                    <a16:rowId xmlns:a16="http://schemas.microsoft.com/office/drawing/2014/main" val="4200949059"/>
                  </a:ext>
                </a:extLst>
              </a:tr>
              <a:tr h="344975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1</a:t>
                      </a:r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extLst>
                  <a:ext uri="{0D108BD9-81ED-4DB2-BD59-A6C34878D82A}">
                    <a16:rowId xmlns:a16="http://schemas.microsoft.com/office/drawing/2014/main" val="4220514730"/>
                  </a:ext>
                </a:extLst>
              </a:tr>
              <a:tr h="344975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2</a:t>
                      </a:r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extLst>
                  <a:ext uri="{0D108BD9-81ED-4DB2-BD59-A6C34878D82A}">
                    <a16:rowId xmlns:a16="http://schemas.microsoft.com/office/drawing/2014/main" val="3929887908"/>
                  </a:ext>
                </a:extLst>
              </a:tr>
              <a:tr h="344975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3</a:t>
                      </a:r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♕</a:t>
                      </a:r>
                      <a:endParaRPr lang="en-US" sz="1400" dirty="0"/>
                    </a:p>
                  </a:txBody>
                  <a:tcPr marL="65760" marR="65760" marT="32880" marB="3288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extLst>
                  <a:ext uri="{0D108BD9-81ED-4DB2-BD59-A6C34878D82A}">
                    <a16:rowId xmlns:a16="http://schemas.microsoft.com/office/drawing/2014/main" val="2765984809"/>
                  </a:ext>
                </a:extLst>
              </a:tr>
              <a:tr h="344975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4</a:t>
                      </a:r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♕</a:t>
                      </a:r>
                      <a:endParaRPr lang="en-US" sz="1400" dirty="0"/>
                    </a:p>
                  </a:txBody>
                  <a:tcPr marL="65760" marR="65760" marT="32880" marB="3288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extLst>
                  <a:ext uri="{0D108BD9-81ED-4DB2-BD59-A6C34878D82A}">
                    <a16:rowId xmlns:a16="http://schemas.microsoft.com/office/drawing/2014/main" val="1819386377"/>
                  </a:ext>
                </a:extLst>
              </a:tr>
              <a:tr h="344975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5</a:t>
                      </a:r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extLst>
                  <a:ext uri="{0D108BD9-81ED-4DB2-BD59-A6C34878D82A}">
                    <a16:rowId xmlns:a16="http://schemas.microsoft.com/office/drawing/2014/main" val="1112775885"/>
                  </a:ext>
                </a:extLst>
              </a:tr>
              <a:tr h="344975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6</a:t>
                      </a:r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extLst>
                  <a:ext uri="{0D108BD9-81ED-4DB2-BD59-A6C34878D82A}">
                    <a16:rowId xmlns:a16="http://schemas.microsoft.com/office/drawing/2014/main" val="3480177615"/>
                  </a:ext>
                </a:extLst>
              </a:tr>
              <a:tr h="344975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7</a:t>
                      </a:r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760" marR="65760" marT="32880" marB="32880"/>
                </a:tc>
                <a:extLst>
                  <a:ext uri="{0D108BD9-81ED-4DB2-BD59-A6C34878D82A}">
                    <a16:rowId xmlns:a16="http://schemas.microsoft.com/office/drawing/2014/main" val="25454817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0DFCC68E-8F28-34CE-E7D2-943903386F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34509" y="2661812"/>
                <a:ext cx="2249424" cy="72199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1800" b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1800" b="1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800" b="1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sz="1800" b="1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1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1800" b="1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US" sz="1800" b="1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1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sz="18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:endPara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0DFCC68E-8F28-34CE-E7D2-943903386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509" y="2661812"/>
                <a:ext cx="2249424" cy="721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060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BE9D5-05CA-8A8D-AD17-B9DF38FC8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9CDBA-2632-D0C8-F6DA-5897A1E2AD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" y="95250"/>
            <a:ext cx="10058400" cy="822325"/>
          </a:xfrm>
        </p:spPr>
        <p:txBody>
          <a:bodyPr>
            <a:normAutofit/>
          </a:bodyPr>
          <a:lstStyle/>
          <a:p>
            <a:r>
              <a:rPr lang="en-US" dirty="0"/>
              <a:t>Implementation  </a:t>
            </a:r>
            <a:r>
              <a:rPr lang="en-US" sz="3200" dirty="0"/>
              <a:t>with CSP methods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EFFE09-6EFB-4A36-555A-891BF83D9160}"/>
              </a:ext>
            </a:extLst>
          </p:cNvPr>
          <p:cNvSpPr txBox="1">
            <a:spLocks/>
          </p:cNvSpPr>
          <p:nvPr/>
        </p:nvSpPr>
        <p:spPr>
          <a:xfrm>
            <a:off x="6582156" y="917573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Backtracking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25E7BE41-5D5F-7245-8E6F-2DF0AB9CC1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08" y="1443522"/>
                <a:ext cx="6175248" cy="592751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2500" lnSpcReduction="20000"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10000"/>
                  </a:lnSpc>
                </a:pPr>
                <a:r>
                  <a:rPr lang="en-US" sz="1800" dirty="0"/>
                  <a:t>Manage each row as its own variable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1800" dirty="0"/>
                  <a:t>Each Queen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has domain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/>
                  <a:t> representing the columns it can be placed</a:t>
                </a:r>
              </a:p>
            </p:txBody>
          </p:sp>
        </mc:Choice>
        <mc:Fallback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25E7BE41-5D5F-7245-8E6F-2DF0AB9CC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" y="1443522"/>
                <a:ext cx="6175248" cy="592751"/>
              </a:xfrm>
              <a:prstGeom prst="rect">
                <a:avLst/>
              </a:prstGeom>
              <a:blipFill>
                <a:blip r:embed="rId2"/>
                <a:stretch>
                  <a:fillRect l="-691" t="-2062" b="-14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5D8EC2E9-D6A1-D67A-05CA-10E73E36A94D}"/>
              </a:ext>
            </a:extLst>
          </p:cNvPr>
          <p:cNvSpPr txBox="1">
            <a:spLocks/>
          </p:cNvSpPr>
          <p:nvPr/>
        </p:nvSpPr>
        <p:spPr>
          <a:xfrm>
            <a:off x="76200" y="917573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Representing the Board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8781C7-DEAD-F957-17D0-CCBE3DB4D026}"/>
              </a:ext>
            </a:extLst>
          </p:cNvPr>
          <p:cNvSpPr txBox="1">
            <a:spLocks/>
          </p:cNvSpPr>
          <p:nvPr/>
        </p:nvSpPr>
        <p:spPr>
          <a:xfrm>
            <a:off x="6582156" y="1576068"/>
            <a:ext cx="5474208" cy="48338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Stacks: Depth-First-Search (LIFO)</a:t>
            </a:r>
          </a:p>
          <a:p>
            <a:endParaRPr lang="en-US" sz="1600" b="1" dirty="0"/>
          </a:p>
          <a:p>
            <a:r>
              <a:rPr lang="en-US" sz="1600" dirty="0"/>
              <a:t>DFS adds Queens to the board until failure.</a:t>
            </a:r>
          </a:p>
          <a:p>
            <a:r>
              <a:rPr lang="en-US" sz="1600" dirty="0"/>
              <a:t>When a board fails, the stack “backtracks” to a board pushed earlier:</a:t>
            </a:r>
          </a:p>
          <a:p>
            <a:endParaRPr lang="en-US" sz="1600" dirty="0"/>
          </a:p>
          <a:p>
            <a:r>
              <a:rPr lang="en-US" sz="1400" dirty="0">
                <a:latin typeface="Sitka Display" pitchFamily="2" charset="0"/>
              </a:rPr>
              <a:t>Stack </a:t>
            </a:r>
            <a:r>
              <a:rPr lang="en-US" sz="1400" b="1" dirty="0" err="1">
                <a:latin typeface="Sitka Display" pitchFamily="2" charset="0"/>
              </a:rPr>
              <a:t>csp</a:t>
            </a:r>
            <a:r>
              <a:rPr lang="en-US" sz="1400" dirty="0">
                <a:latin typeface="Sitka Display" pitchFamily="2" charset="0"/>
              </a:rPr>
              <a:t>;</a:t>
            </a:r>
          </a:p>
          <a:p>
            <a:r>
              <a:rPr lang="en-US" sz="1400" dirty="0">
                <a:latin typeface="Sitka Display" pitchFamily="2" charset="0"/>
              </a:rPr>
              <a:t>push initial board to </a:t>
            </a:r>
            <a:r>
              <a:rPr lang="en-US" sz="1400" b="1" dirty="0" err="1">
                <a:latin typeface="Sitka Display" pitchFamily="2" charset="0"/>
              </a:rPr>
              <a:t>csp</a:t>
            </a:r>
            <a:endParaRPr lang="en-US" sz="1400" b="1" dirty="0">
              <a:latin typeface="Sitka Display" pitchFamily="2" charset="0"/>
            </a:endParaRPr>
          </a:p>
          <a:p>
            <a:endParaRPr lang="en-US" sz="1400" dirty="0">
              <a:latin typeface="Sitka Display" pitchFamily="2" charset="0"/>
            </a:endParaRPr>
          </a:p>
          <a:p>
            <a:r>
              <a:rPr lang="en-US" sz="1400" dirty="0">
                <a:latin typeface="Sitka Display" pitchFamily="2" charset="0"/>
              </a:rPr>
              <a:t>while (</a:t>
            </a:r>
            <a:r>
              <a:rPr lang="en-US" sz="1400" b="1" dirty="0" err="1">
                <a:latin typeface="Sitka Display" pitchFamily="2" charset="0"/>
              </a:rPr>
              <a:t>csp</a:t>
            </a:r>
            <a:r>
              <a:rPr lang="en-US" sz="1400" dirty="0">
                <a:latin typeface="Sitka Display" pitchFamily="2" charset="0"/>
              </a:rPr>
              <a:t> is not empty):</a:t>
            </a:r>
          </a:p>
          <a:p>
            <a:r>
              <a:rPr lang="en-US" sz="1400" dirty="0">
                <a:latin typeface="Sitka Display" pitchFamily="2" charset="0"/>
              </a:rPr>
              <a:t>	if (</a:t>
            </a:r>
            <a:r>
              <a:rPr lang="en-US" sz="1400" b="1" dirty="0" err="1">
                <a:latin typeface="Sitka Display" pitchFamily="2" charset="0"/>
              </a:rPr>
              <a:t>csp</a:t>
            </a:r>
            <a:r>
              <a:rPr lang="en-US" sz="1400" dirty="0">
                <a:latin typeface="Sitka Display" pitchFamily="2" charset="0"/>
              </a:rPr>
              <a:t> is complete) return </a:t>
            </a:r>
            <a:r>
              <a:rPr lang="en-US" sz="1400" b="1" dirty="0" err="1">
                <a:latin typeface="Sitka Display" pitchFamily="2" charset="0"/>
              </a:rPr>
              <a:t>csp</a:t>
            </a:r>
            <a:endParaRPr lang="en-US" sz="1400" b="1" dirty="0">
              <a:latin typeface="Sitka Display" pitchFamily="2" charset="0"/>
            </a:endParaRPr>
          </a:p>
          <a:p>
            <a:endParaRPr lang="en-US" sz="1400" dirty="0">
              <a:latin typeface="Sitka Display" pitchFamily="2" charset="0"/>
            </a:endParaRPr>
          </a:p>
          <a:p>
            <a:r>
              <a:rPr lang="en-US" sz="1400" dirty="0">
                <a:latin typeface="Sitka Display" pitchFamily="2" charset="0"/>
              </a:rPr>
              <a:t>	</a:t>
            </a:r>
            <a:r>
              <a:rPr lang="en-US" sz="1400" b="1" dirty="0">
                <a:latin typeface="Sitka Display" pitchFamily="2" charset="0"/>
              </a:rPr>
              <a:t>queen</a:t>
            </a:r>
            <a:r>
              <a:rPr lang="en-US" sz="1400" dirty="0">
                <a:latin typeface="Sitka Display" pitchFamily="2" charset="0"/>
              </a:rPr>
              <a:t> = </a:t>
            </a:r>
            <a:r>
              <a:rPr lang="en-US" sz="1400" dirty="0" err="1">
                <a:latin typeface="Sitka Display" pitchFamily="2" charset="0"/>
              </a:rPr>
              <a:t>next_queen</a:t>
            </a:r>
            <a:r>
              <a:rPr lang="en-US" sz="1400" dirty="0">
                <a:latin typeface="Sitka Display" pitchFamily="2" charset="0"/>
              </a:rPr>
              <a:t>()</a:t>
            </a:r>
          </a:p>
          <a:p>
            <a:r>
              <a:rPr lang="en-US" sz="1400" dirty="0">
                <a:latin typeface="Sitka Display" pitchFamily="2" charset="0"/>
              </a:rPr>
              <a:t>	for (each </a:t>
            </a:r>
            <a:r>
              <a:rPr lang="en-US" sz="1400" b="1" dirty="0">
                <a:latin typeface="Sitka Display" pitchFamily="2" charset="0"/>
              </a:rPr>
              <a:t>value</a:t>
            </a:r>
            <a:r>
              <a:rPr lang="en-US" sz="1400" dirty="0">
                <a:latin typeface="Sitka Display" pitchFamily="2" charset="0"/>
              </a:rPr>
              <a:t> in </a:t>
            </a:r>
            <a:r>
              <a:rPr lang="en-US" sz="1400" b="1" dirty="0">
                <a:latin typeface="Sitka Display" pitchFamily="2" charset="0"/>
              </a:rPr>
              <a:t>queen</a:t>
            </a:r>
            <a:r>
              <a:rPr lang="en-US" sz="1400" dirty="0">
                <a:latin typeface="Sitka Display" pitchFamily="2" charset="0"/>
              </a:rPr>
              <a:t>’s domain):</a:t>
            </a:r>
          </a:p>
          <a:p>
            <a:r>
              <a:rPr lang="en-US" sz="1400" dirty="0">
                <a:latin typeface="Sitka Display" pitchFamily="2" charset="0"/>
              </a:rPr>
              <a:t>		if (no conflicts with </a:t>
            </a:r>
            <a:r>
              <a:rPr lang="en-US" sz="1400" b="1" dirty="0" err="1">
                <a:latin typeface="Sitka Display" pitchFamily="2" charset="0"/>
              </a:rPr>
              <a:t>csp</a:t>
            </a:r>
            <a:r>
              <a:rPr lang="en-US" sz="1400" dirty="0">
                <a:latin typeface="Sitka Display" pitchFamily="2" charset="0"/>
              </a:rPr>
              <a:t>):</a:t>
            </a:r>
          </a:p>
          <a:p>
            <a:r>
              <a:rPr lang="en-US" sz="1400" dirty="0">
                <a:latin typeface="Sitka Display" pitchFamily="2" charset="0"/>
              </a:rPr>
              <a:t>			add </a:t>
            </a:r>
            <a:r>
              <a:rPr lang="en-US" sz="1400" b="1" dirty="0">
                <a:latin typeface="Sitka Display" pitchFamily="2" charset="0"/>
              </a:rPr>
              <a:t>value</a:t>
            </a:r>
            <a:r>
              <a:rPr lang="en-US" sz="1400" dirty="0">
                <a:latin typeface="Sitka Display" pitchFamily="2" charset="0"/>
              </a:rPr>
              <a:t> to new</a:t>
            </a:r>
            <a:r>
              <a:rPr lang="en-US" sz="1400" b="1" dirty="0">
                <a:latin typeface="Sitka Display" pitchFamily="2" charset="0"/>
              </a:rPr>
              <a:t> board</a:t>
            </a:r>
          </a:p>
          <a:p>
            <a:r>
              <a:rPr lang="en-US" sz="1400" dirty="0">
                <a:latin typeface="Sitka Display" pitchFamily="2" charset="0"/>
              </a:rPr>
              <a:t>			push </a:t>
            </a:r>
            <a:r>
              <a:rPr lang="en-US" sz="1400" b="1" dirty="0">
                <a:latin typeface="Sitka Display" pitchFamily="2" charset="0"/>
              </a:rPr>
              <a:t>board</a:t>
            </a:r>
            <a:r>
              <a:rPr lang="en-US" sz="1400" dirty="0">
                <a:latin typeface="Sitka Display" pitchFamily="2" charset="0"/>
              </a:rPr>
              <a:t> to </a:t>
            </a:r>
            <a:r>
              <a:rPr lang="en-US" sz="1400" b="1" dirty="0" err="1">
                <a:latin typeface="Sitka Display" pitchFamily="2" charset="0"/>
              </a:rPr>
              <a:t>csp</a:t>
            </a:r>
            <a:endParaRPr lang="en-US" sz="1400" b="1" dirty="0">
              <a:latin typeface="Sitka Display" pitchFamily="2" charset="0"/>
            </a:endParaRPr>
          </a:p>
          <a:p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9C505DD-3BB1-8BEF-3883-EE3FBC9F4D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9075" y="2240592"/>
              <a:ext cx="3029709" cy="3104775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83677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44975">
                    <a:tc>
                      <a:txBody>
                        <a:bodyPr/>
                        <a:lstStyle/>
                        <a:p>
                          <a:pPr algn="ctr"/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9C505DD-3BB1-8BEF-3883-EE3FBC9F4D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9075" y="2240592"/>
              <a:ext cx="3029709" cy="3104775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83677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44975">
                    <a:tc>
                      <a:txBody>
                        <a:bodyPr/>
                        <a:lstStyle/>
                        <a:p>
                          <a:pPr algn="ctr"/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3"/>
                          <a:stretch>
                            <a:fillRect l="-1587" t="-107143" r="-695238" b="-7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3"/>
                          <a:stretch>
                            <a:fillRect l="-1587" t="-203509" r="-695238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3"/>
                          <a:stretch>
                            <a:fillRect l="-1587" t="-303509" r="-695238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3"/>
                          <a:stretch>
                            <a:fillRect l="-1587" t="-410714" r="-695238" b="-4089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3"/>
                          <a:stretch>
                            <a:fillRect l="-1587" t="-501754" r="-695238" b="-3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3"/>
                          <a:stretch>
                            <a:fillRect l="-1587" t="-601754" r="-695238" b="-2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3"/>
                          <a:stretch>
                            <a:fillRect l="-1587" t="-714286" r="-695238" b="-10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3"/>
                          <a:stretch>
                            <a:fillRect l="-1587" t="-800000" r="-695238" b="-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28821329-E84E-762D-3083-C2FC94F120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34509" y="2661812"/>
                <a:ext cx="2249424" cy="72199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70000" lnSpcReduction="20000"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d>
                    </m:oMath>
                  </m:oMathPara>
                </a14:m>
                <a:endParaRPr lang="en-US" sz="18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d>
                    </m:oMath>
                  </m:oMathPara>
                </a14:m>
                <a:endPara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…</a:t>
                </a:r>
              </a:p>
            </p:txBody>
          </p:sp>
        </mc:Choice>
        <mc:Fallback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28821329-E84E-762D-3083-C2FC94F12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509" y="2661812"/>
                <a:ext cx="2249424" cy="721995"/>
              </a:xfrm>
              <a:prstGeom prst="rect">
                <a:avLst/>
              </a:prstGeom>
              <a:blipFill>
                <a:blip r:embed="rId4"/>
                <a:stretch>
                  <a:fillRect l="-271" b="-7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A5DEC8F4-D3E7-76B8-D12B-3ADD85BF846F}"/>
              </a:ext>
            </a:extLst>
          </p:cNvPr>
          <p:cNvSpPr txBox="1">
            <a:spLocks/>
          </p:cNvSpPr>
          <p:nvPr/>
        </p:nvSpPr>
        <p:spPr>
          <a:xfrm>
            <a:off x="76200" y="5118102"/>
            <a:ext cx="6031992" cy="5927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1200" dirty="0"/>
              <a:t>It is much easier to implement CSP methods with Queen Variables based on rows than coordinate pairs!</a:t>
            </a:r>
          </a:p>
        </p:txBody>
      </p:sp>
    </p:spTree>
    <p:extLst>
      <p:ext uri="{BB962C8B-B14F-4D97-AF65-F5344CB8AC3E}">
        <p14:creationId xmlns:p14="http://schemas.microsoft.com/office/powerpoint/2010/main" val="3107647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9ACCE-C87E-5F3F-780A-5E7CE66EE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A313C-6696-051B-886A-3376DA998FA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199" y="95250"/>
            <a:ext cx="11954124" cy="822325"/>
          </a:xfrm>
        </p:spPr>
        <p:txBody>
          <a:bodyPr>
            <a:normAutofit/>
          </a:bodyPr>
          <a:lstStyle/>
          <a:p>
            <a:r>
              <a:rPr lang="en-US" dirty="0"/>
              <a:t>CSP Methods: Filtering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1B4988-CE4B-C354-DB64-5194D7A01455}"/>
              </a:ext>
            </a:extLst>
          </p:cNvPr>
          <p:cNvSpPr txBox="1">
            <a:spLocks/>
          </p:cNvSpPr>
          <p:nvPr/>
        </p:nvSpPr>
        <p:spPr>
          <a:xfrm>
            <a:off x="451104" y="907666"/>
            <a:ext cx="4565904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Forward Checking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3A9F7E19-E16F-2CCB-589F-CC54CB5009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1481177"/>
                  </p:ext>
                </p:extLst>
              </p:nvPr>
            </p:nvGraphicFramePr>
            <p:xfrm>
              <a:off x="593979" y="2189307"/>
              <a:ext cx="2695927" cy="27627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41407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06968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3A9F7E19-E16F-2CCB-589F-CC54CB5009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1481177"/>
                  </p:ext>
                </p:extLst>
              </p:nvPr>
            </p:nvGraphicFramePr>
            <p:xfrm>
              <a:off x="593979" y="2189307"/>
              <a:ext cx="2695927" cy="27627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41407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294315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06968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4" marR="58514" marT="29258" marB="29258">
                        <a:blipFill>
                          <a:blip r:embed="rId2"/>
                          <a:stretch>
                            <a:fillRect l="-1786" t="-103922" r="-694643" b="-6960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4" marR="58514" marT="29258" marB="29258">
                        <a:blipFill>
                          <a:blip r:embed="rId2"/>
                          <a:stretch>
                            <a:fillRect l="-1786" t="-208000" r="-694643" b="-6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4" marR="58514" marT="29258" marB="29258">
                        <a:blipFill>
                          <a:blip r:embed="rId2"/>
                          <a:stretch>
                            <a:fillRect l="-1786" t="-301961" r="-694643" b="-4980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4" marR="58514" marT="29258" marB="29258">
                        <a:blipFill>
                          <a:blip r:embed="rId2"/>
                          <a:stretch>
                            <a:fillRect l="-1786" t="-410000" r="-694643" b="-4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4" marR="58514" marT="29258" marB="29258">
                        <a:blipFill>
                          <a:blip r:embed="rId2"/>
                          <a:stretch>
                            <a:fillRect l="-1786" t="-500000" r="-6946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4" marR="58514" marT="29258" marB="29258">
                        <a:blipFill>
                          <a:blip r:embed="rId2"/>
                          <a:stretch>
                            <a:fillRect l="-1786" t="-612000" r="-694643" b="-2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4" marR="58514" marT="29258" marB="29258">
                        <a:blipFill>
                          <a:blip r:embed="rId2"/>
                          <a:stretch>
                            <a:fillRect l="-1786" t="-698039" r="-694643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4" marR="58514" marT="29258" marB="29258">
                        <a:blipFill>
                          <a:blip r:embed="rId2"/>
                          <a:stretch>
                            <a:fillRect l="-1786" t="-814000" r="-694643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/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dirty="0"/>
                        </a:p>
                      </a:txBody>
                      <a:tcPr marL="58514" marR="58514" marT="29258" marB="2925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70E16375-F195-9E4E-70AA-05237D12AC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3979" y="5077078"/>
                <a:ext cx="2695927" cy="72199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70000" lnSpcReduction="20000"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n-US" sz="18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US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d>
                    </m:oMath>
                  </m:oMathPara>
                </a14:m>
                <a:endPara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…</a:t>
                </a:r>
              </a:p>
            </p:txBody>
          </p:sp>
        </mc:Choice>
        <mc:Fallback xmlns="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70E16375-F195-9E4E-70AA-05237D12A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79" y="5077078"/>
                <a:ext cx="2695927" cy="721995"/>
              </a:xfrm>
              <a:prstGeom prst="rect">
                <a:avLst/>
              </a:prstGeom>
              <a:blipFill>
                <a:blip r:embed="rId3"/>
                <a:stretch>
                  <a:fillRect l="-226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7F54FE09-42EF-8D73-EF1F-E3E194278E69}"/>
              </a:ext>
            </a:extLst>
          </p:cNvPr>
          <p:cNvSpPr txBox="1">
            <a:spLocks/>
          </p:cNvSpPr>
          <p:nvPr/>
        </p:nvSpPr>
        <p:spPr>
          <a:xfrm>
            <a:off x="451105" y="1566161"/>
            <a:ext cx="3639312" cy="38075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1800" dirty="0"/>
              <a:t>Update domains of other Queens.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994AA9E-EEFA-ED45-EDB0-8C9A97F2B108}"/>
              </a:ext>
            </a:extLst>
          </p:cNvPr>
          <p:cNvSpPr txBox="1">
            <a:spLocks/>
          </p:cNvSpPr>
          <p:nvPr/>
        </p:nvSpPr>
        <p:spPr>
          <a:xfrm>
            <a:off x="4155728" y="907665"/>
            <a:ext cx="6157113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Arc Consistency </a:t>
            </a:r>
            <a:r>
              <a:rPr lang="en-US" sz="1600" dirty="0"/>
              <a:t>(Constraint Propagation)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0471060A-9697-8EB9-DB1C-BA4470BDF1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5729" y="1423978"/>
                <a:ext cx="7612201" cy="832234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10000"/>
                  </a:lnSpc>
                </a:pPr>
                <a:r>
                  <a:rPr lang="en-US" sz="1800" dirty="0"/>
                  <a:t>An arc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is consistent </a:t>
                </a:r>
                <a:r>
                  <a:rPr lang="en-US" sz="1800" dirty="0" err="1"/>
                  <a:t>iff</a:t>
                </a:r>
                <a:r>
                  <a:rPr lang="en-US" sz="1800" dirty="0"/>
                  <a:t>: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b="0" dirty="0"/>
                  <a:t>For all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there exists some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don’t conflict.</a:t>
                </a: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0471060A-9697-8EB9-DB1C-BA4470BDF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729" y="1423978"/>
                <a:ext cx="7612201" cy="832234"/>
              </a:xfrm>
              <a:prstGeom prst="rect">
                <a:avLst/>
              </a:prstGeom>
              <a:blipFill>
                <a:blip r:embed="rId4"/>
                <a:stretch>
                  <a:fillRect l="-721" t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67912111-B340-C41A-7DD2-1CF5FCD11E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5729" y="4998567"/>
                <a:ext cx="7874594" cy="1601013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0000"/>
                  </a:lnSpc>
                </a:pPr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1800" dirty="0"/>
                  <a:t> were to pick column 6,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800" dirty="0"/>
                  <a:t>’s domain would become empty…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1800" dirty="0"/>
                  <a:t>To make this arc consistent, we take column 4 out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1800" dirty="0"/>
                  <a:t>’s domain.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1800" dirty="0"/>
                  <a:t>Also,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sz="1800" dirty="0"/>
                  <a:t> can’t be in col 1 or 3,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sz="1800" dirty="0"/>
                  <a:t> can’t be in 4… </a:t>
                </a:r>
                <a:r>
                  <a:rPr lang="en-US" sz="1400" dirty="0"/>
                  <a:t>		</a:t>
                </a:r>
                <a:r>
                  <a:rPr lang="en-US" sz="1200" dirty="0"/>
                  <a:t>and 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sz="1200" dirty="0"/>
                  <a:t> can’t be in col 1…</a:t>
                </a:r>
              </a:p>
            </p:txBody>
          </p:sp>
        </mc:Choice>
        <mc:Fallback xmlns="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67912111-B340-C41A-7DD2-1CF5FCD11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729" y="4998567"/>
                <a:ext cx="7874594" cy="1601013"/>
              </a:xfrm>
              <a:prstGeom prst="rect">
                <a:avLst/>
              </a:prstGeom>
              <a:blipFill>
                <a:blip r:embed="rId5"/>
                <a:stretch>
                  <a:fillRect l="-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57497C3C-1D67-FB21-EBE6-4CC72748F2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1321452"/>
                  </p:ext>
                </p:extLst>
              </p:nvPr>
            </p:nvGraphicFramePr>
            <p:xfrm>
              <a:off x="4162223" y="2189307"/>
              <a:ext cx="2695910" cy="27627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41406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06968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6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57497C3C-1D67-FB21-EBE6-4CC72748F2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1321452"/>
                  </p:ext>
                </p:extLst>
              </p:nvPr>
            </p:nvGraphicFramePr>
            <p:xfrm>
              <a:off x="4162223" y="2189307"/>
              <a:ext cx="2695910" cy="27627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41406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06968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6"/>
                          <a:stretch>
                            <a:fillRect l="-1786" t="-105882" r="-696429" b="-6960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6"/>
                          <a:stretch>
                            <a:fillRect l="-1786" t="-210000" r="-696429" b="-6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6"/>
                          <a:stretch>
                            <a:fillRect l="-1786" t="-303922" r="-696429" b="-4980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6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6"/>
                          <a:stretch>
                            <a:fillRect l="-1786" t="-412000" r="-696429" b="-4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6"/>
                          <a:stretch>
                            <a:fillRect l="-1786" t="-501961" r="-69642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6"/>
                          <a:stretch>
                            <a:fillRect l="-1786" t="-614000" r="-696429" b="-2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6"/>
                          <a:stretch>
                            <a:fillRect l="-1786" t="-700000" r="-696429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6"/>
                          <a:stretch>
                            <a:fillRect l="-1786" t="-816000" r="-69642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42AFA680-29B0-AD9F-7699-1B6411EA51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80008"/>
                  </p:ext>
                </p:extLst>
              </p:nvPr>
            </p:nvGraphicFramePr>
            <p:xfrm>
              <a:off x="7072875" y="2189307"/>
              <a:ext cx="2695910" cy="27627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41406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06968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6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42AFA680-29B0-AD9F-7699-1B6411EA51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80008"/>
                  </p:ext>
                </p:extLst>
              </p:nvPr>
            </p:nvGraphicFramePr>
            <p:xfrm>
              <a:off x="7072875" y="2189307"/>
              <a:ext cx="2695910" cy="27627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41406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294313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06968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7"/>
                          <a:stretch>
                            <a:fillRect l="-1786" t="-105882" r="-694643" b="-6960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7"/>
                          <a:stretch>
                            <a:fillRect l="-1786" t="-210000" r="-694643" b="-6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7"/>
                          <a:stretch>
                            <a:fillRect l="-1786" t="-303922" r="-694643" b="-4980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6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7"/>
                          <a:stretch>
                            <a:fillRect l="-1786" t="-412000" r="-694643" b="-4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500" dirty="0"/>
                        </a:p>
                      </a:txBody>
                      <a:tcPr marL="55205" marR="55205" marT="27604" marB="27604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7"/>
                          <a:stretch>
                            <a:fillRect l="-1786" t="-501961" r="-6946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7"/>
                          <a:stretch>
                            <a:fillRect l="-1786" t="-614000" r="-694643" b="-2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7"/>
                          <a:stretch>
                            <a:fillRect l="-1786" t="-700000" r="-694643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06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515" marR="58515" marT="29257" marB="29257">
                        <a:blipFill>
                          <a:blip r:embed="rId7"/>
                          <a:stretch>
                            <a:fillRect l="-1786" t="-816000" r="-694643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515" marR="58515" marT="29257" marB="29257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4A215FA0-3013-D65A-ADE7-71997FC912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4651506"/>
                  </p:ext>
                </p:extLst>
              </p:nvPr>
            </p:nvGraphicFramePr>
            <p:xfrm>
              <a:off x="9983527" y="3176003"/>
              <a:ext cx="1720194" cy="17628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217842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195868">
                    <a:tc>
                      <a:txBody>
                        <a:bodyPr/>
                        <a:lstStyle/>
                        <a:p>
                          <a:pPr algn="ctr"/>
                          <a:endParaRPr lang="en-US" sz="7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0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7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4A215FA0-3013-D65A-ADE7-71997FC912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4651506"/>
                  </p:ext>
                </p:extLst>
              </p:nvPr>
            </p:nvGraphicFramePr>
            <p:xfrm>
              <a:off x="9983527" y="3176003"/>
              <a:ext cx="1720194" cy="17628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217842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187794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195868">
                    <a:tc>
                      <a:txBody>
                        <a:bodyPr/>
                        <a:lstStyle/>
                        <a:p>
                          <a:pPr algn="ctr"/>
                          <a:endParaRPr lang="en-US" sz="7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7337" marR="37337" marT="18668" marB="18668">
                        <a:blipFill>
                          <a:blip r:embed="rId8"/>
                          <a:stretch>
                            <a:fillRect l="-2778" t="-100000" r="-691667" b="-69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7337" marR="37337" marT="18668" marB="18668">
                        <a:blipFill>
                          <a:blip r:embed="rId8"/>
                          <a:stretch>
                            <a:fillRect l="-2778" t="-206250" r="-691667" b="-6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7337" marR="37337" marT="18668" marB="18668">
                        <a:blipFill>
                          <a:blip r:embed="rId8"/>
                          <a:stretch>
                            <a:fillRect l="-2778" t="-306250" r="-691667" b="-5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0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7337" marR="37337" marT="18668" marB="18668">
                        <a:blipFill>
                          <a:blip r:embed="rId8"/>
                          <a:stretch>
                            <a:fillRect l="-2778" t="-393939" r="-691667" b="-3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000" dirty="0"/>
                        </a:p>
                      </a:txBody>
                      <a:tcPr marL="35225" marR="35225" marT="17613" marB="17613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7337" marR="37337" marT="18668" marB="18668">
                        <a:blipFill>
                          <a:blip r:embed="rId8"/>
                          <a:stretch>
                            <a:fillRect l="-2778" t="-509375" r="-691667" b="-3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7337" marR="37337" marT="18668" marB="18668">
                        <a:blipFill>
                          <a:blip r:embed="rId8"/>
                          <a:stretch>
                            <a:fillRect l="-2778" t="-609375" r="-691667" b="-2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7337" marR="37337" marT="18668" marB="18668">
                        <a:blipFill>
                          <a:blip r:embed="rId8"/>
                          <a:stretch>
                            <a:fillRect l="-2778" t="-687879" r="-691667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1958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7337" marR="37337" marT="18668" marB="18668">
                        <a:blipFill>
                          <a:blip r:embed="rId8"/>
                          <a:stretch>
                            <a:fillRect l="-2778" t="-812500" r="-691667" b="-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/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700" dirty="0"/>
                        </a:p>
                      </a:txBody>
                      <a:tcPr marL="37337" marR="37337" marT="18668" marB="18668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32691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3B257-3F1D-0DC2-B9FD-E0E43F08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5E9DF-D847-F2F7-2A83-649D3CB9415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" y="95250"/>
            <a:ext cx="10058400" cy="822325"/>
          </a:xfrm>
        </p:spPr>
        <p:txBody>
          <a:bodyPr>
            <a:normAutofit/>
          </a:bodyPr>
          <a:lstStyle/>
          <a:p>
            <a:r>
              <a:rPr lang="en-US" dirty="0"/>
              <a:t>CSP Methods: Ordering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CF90FB-3E64-DF00-B8ED-0B70BA968638}"/>
              </a:ext>
            </a:extLst>
          </p:cNvPr>
          <p:cNvSpPr txBox="1">
            <a:spLocks/>
          </p:cNvSpPr>
          <p:nvPr/>
        </p:nvSpPr>
        <p:spPr>
          <a:xfrm>
            <a:off x="344424" y="5162057"/>
            <a:ext cx="6018306" cy="6584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Note that the search problem won’t update domains without some level of filtering.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AEDBB8-73A0-DBB5-C978-5307D30B3D3B}"/>
              </a:ext>
            </a:extLst>
          </p:cNvPr>
          <p:cNvSpPr txBox="1">
            <a:spLocks/>
          </p:cNvSpPr>
          <p:nvPr/>
        </p:nvSpPr>
        <p:spPr>
          <a:xfrm>
            <a:off x="341376" y="917574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Minimum Remaining Values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0E2471-9EB1-776E-305B-B2058E6B9646}"/>
              </a:ext>
            </a:extLst>
          </p:cNvPr>
          <p:cNvSpPr txBox="1">
            <a:spLocks/>
          </p:cNvSpPr>
          <p:nvPr/>
        </p:nvSpPr>
        <p:spPr>
          <a:xfrm>
            <a:off x="347472" y="1403622"/>
            <a:ext cx="6012210" cy="5927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1800" dirty="0"/>
              <a:t>Pick the Queen with the smallest domain to place next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60EAE22-3B11-86F5-BD7A-9A3E31D7EF82}"/>
              </a:ext>
            </a:extLst>
          </p:cNvPr>
          <p:cNvSpPr txBox="1">
            <a:spLocks/>
          </p:cNvSpPr>
          <p:nvPr/>
        </p:nvSpPr>
        <p:spPr>
          <a:xfrm>
            <a:off x="5615244" y="917574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Least Constraining Value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50566D-5FD9-FBF2-BEEB-9BF3481D689F}"/>
              </a:ext>
            </a:extLst>
          </p:cNvPr>
          <p:cNvSpPr txBox="1">
            <a:spLocks/>
          </p:cNvSpPr>
          <p:nvPr/>
        </p:nvSpPr>
        <p:spPr>
          <a:xfrm>
            <a:off x="5615244" y="1403622"/>
            <a:ext cx="6491472" cy="8223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1800" dirty="0"/>
              <a:t>Pick the column placement that leaves the most possible placements for other Queens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027AA913-224E-EFCC-1127-4C925ABBB2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550497"/>
                  </p:ext>
                </p:extLst>
              </p:nvPr>
            </p:nvGraphicFramePr>
            <p:xfrm>
              <a:off x="478877" y="1952944"/>
              <a:ext cx="3029709" cy="3104775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83677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44975">
                    <a:tc>
                      <a:txBody>
                        <a:bodyPr/>
                        <a:lstStyle/>
                        <a:p>
                          <a:pPr algn="ctr"/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027AA913-224E-EFCC-1127-4C925ABBB2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550497"/>
                  </p:ext>
                </p:extLst>
              </p:nvPr>
            </p:nvGraphicFramePr>
            <p:xfrm>
              <a:off x="478877" y="1952944"/>
              <a:ext cx="3029709" cy="3104775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83677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330754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44975">
                    <a:tc>
                      <a:txBody>
                        <a:bodyPr/>
                        <a:lstStyle/>
                        <a:p>
                          <a:pPr algn="ctr"/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2"/>
                          <a:stretch>
                            <a:fillRect l="-1587" t="-107143" r="-693651" b="-7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2"/>
                          <a:stretch>
                            <a:fillRect l="-1587" t="-203509" r="-693651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2"/>
                          <a:stretch>
                            <a:fillRect l="-1587" t="-303509" r="-693651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2"/>
                          <a:stretch>
                            <a:fillRect l="-1587" t="-410714" r="-693651" b="-4089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2"/>
                          <a:stretch>
                            <a:fillRect l="-1587" t="-501754" r="-693651" b="-3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2"/>
                          <a:stretch>
                            <a:fillRect l="-1587" t="-601754" r="-693651" b="-2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2"/>
                          <a:stretch>
                            <a:fillRect l="-1587" t="-714286" r="-693651" b="-10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8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44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760" marR="65760" marT="32880" marB="32880">
                        <a:blipFill>
                          <a:blip r:embed="rId2"/>
                          <a:stretch>
                            <a:fillRect l="-1587" t="-800000" r="-693651" b="-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/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5760" marR="65760" marT="32880" marB="3288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Arrow: Down 20">
            <a:extLst>
              <a:ext uri="{FF2B5EF4-FFF2-40B4-BE49-F238E27FC236}">
                <a16:creationId xmlns:a16="http://schemas.microsoft.com/office/drawing/2014/main" id="{EA951AEB-3649-C823-4C49-DBF017C194B8}"/>
              </a:ext>
            </a:extLst>
          </p:cNvPr>
          <p:cNvSpPr/>
          <p:nvPr/>
        </p:nvSpPr>
        <p:spPr>
          <a:xfrm rot="5400000">
            <a:off x="3764366" y="3280943"/>
            <a:ext cx="200025" cy="4487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6E8A56D1-CA3C-189E-2876-CE3CC8D66A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325772"/>
                  </p:ext>
                </p:extLst>
              </p:nvPr>
            </p:nvGraphicFramePr>
            <p:xfrm>
              <a:off x="5713839" y="2281922"/>
              <a:ext cx="2677690" cy="2744037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39098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04893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2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6E8A56D1-CA3C-189E-2876-CE3CC8D66A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325772"/>
                  </p:ext>
                </p:extLst>
              </p:nvPr>
            </p:nvGraphicFramePr>
            <p:xfrm>
              <a:off x="5713839" y="2281922"/>
              <a:ext cx="2677690" cy="2744037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39098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04893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3"/>
                          <a:stretch>
                            <a:fillRect l="-1786" t="-106000" r="-689286" b="-7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3"/>
                          <a:stretch>
                            <a:fillRect l="-1786" t="-206000" r="-689286" b="-6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3"/>
                          <a:stretch>
                            <a:fillRect l="-1786" t="-306000" r="-689286" b="-5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3"/>
                          <a:stretch>
                            <a:fillRect l="-1786" t="-398039" r="-689286" b="-3960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2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3"/>
                          <a:stretch>
                            <a:fillRect l="-1786" t="-508000" r="-689286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3"/>
                          <a:stretch>
                            <a:fillRect l="-1786" t="-608000" r="-689286" b="-2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3"/>
                          <a:stretch>
                            <a:fillRect l="-1786" t="-708000" r="-689286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3"/>
                          <a:stretch>
                            <a:fillRect l="-1786" t="-808000" r="-689286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itle 1">
            <a:extLst>
              <a:ext uri="{FF2B5EF4-FFF2-40B4-BE49-F238E27FC236}">
                <a16:creationId xmlns:a16="http://schemas.microsoft.com/office/drawing/2014/main" id="{7FD571AD-7486-C041-C1C5-FBCBF6D69012}"/>
              </a:ext>
            </a:extLst>
          </p:cNvPr>
          <p:cNvSpPr txBox="1">
            <a:spLocks/>
          </p:cNvSpPr>
          <p:nvPr/>
        </p:nvSpPr>
        <p:spPr>
          <a:xfrm>
            <a:off x="5615244" y="5094008"/>
            <a:ext cx="3029709" cy="6584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Restricts 20 other placements…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F61487D5-E4B2-6FDB-C2F5-5133D8499B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9931576"/>
                  </p:ext>
                </p:extLst>
              </p:nvPr>
            </p:nvGraphicFramePr>
            <p:xfrm>
              <a:off x="9054455" y="2282743"/>
              <a:ext cx="2677690" cy="2744037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39098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04893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F61487D5-E4B2-6FDB-C2F5-5133D8499B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9931576"/>
                  </p:ext>
                </p:extLst>
              </p:nvPr>
            </p:nvGraphicFramePr>
            <p:xfrm>
              <a:off x="9054455" y="2282743"/>
              <a:ext cx="2677690" cy="2744037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339098">
                      <a:extLst>
                        <a:ext uri="{9D8B030D-6E8A-4147-A177-3AD203B41FA5}">
                          <a16:colId xmlns:a16="http://schemas.microsoft.com/office/drawing/2014/main" val="1751403569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192378848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1693650801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816402099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2301692034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31699259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2959622088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3809554995"/>
                        </a:ext>
                      </a:extLst>
                    </a:gridCol>
                    <a:gridCol w="292324">
                      <a:extLst>
                        <a:ext uri="{9D8B030D-6E8A-4147-A177-3AD203B41FA5}">
                          <a16:colId xmlns:a16="http://schemas.microsoft.com/office/drawing/2014/main" val="3286897189"/>
                        </a:ext>
                      </a:extLst>
                    </a:gridCol>
                  </a:tblGrid>
                  <a:tr h="304893"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747511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4"/>
                          <a:stretch>
                            <a:fillRect l="-1786" t="-106000" r="-689286" b="-7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0949059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4"/>
                          <a:stretch>
                            <a:fillRect l="-1786" t="-206000" r="-689286" b="-6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4220514730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4"/>
                          <a:stretch>
                            <a:fillRect l="-1786" t="-306000" r="-689286" b="-5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3929887908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4"/>
                          <a:stretch>
                            <a:fillRect l="-1786" t="-398039" r="-689286" b="-3960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>
                              <a:solidFill>
                                <a:schemeClr val="bg1"/>
                              </a:solidFill>
                            </a:rPr>
                            <a:t>♕</a:t>
                          </a:r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984809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4"/>
                          <a:stretch>
                            <a:fillRect l="-1786" t="-508000" r="-689286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1819386377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4"/>
                          <a:stretch>
                            <a:fillRect l="-1786" t="-608000" r="-689286" b="-2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1112775885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4"/>
                          <a:stretch>
                            <a:fillRect l="-1786" t="-708000" r="-689286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3480177615"/>
                      </a:ext>
                    </a:extLst>
                  </a:tr>
                  <a:tr h="3048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119" marR="58119" marT="29060" marB="29060">
                        <a:blipFill>
                          <a:blip r:embed="rId4"/>
                          <a:stretch>
                            <a:fillRect l="-1786" t="-808000" r="-689286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tc>
                      <a:txBody>
                        <a:bodyPr/>
                        <a:lstStyle/>
                        <a:p>
                          <a:endParaRPr lang="en-US" sz="1100" dirty="0"/>
                        </a:p>
                      </a:txBody>
                      <a:tcPr marL="58119" marR="58119" marT="29060" marB="29060"/>
                    </a:tc>
                    <a:extLst>
                      <a:ext uri="{0D108BD9-81ED-4DB2-BD59-A6C34878D82A}">
                        <a16:rowId xmlns:a16="http://schemas.microsoft.com/office/drawing/2014/main" val="254548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itle 1">
            <a:extLst>
              <a:ext uri="{FF2B5EF4-FFF2-40B4-BE49-F238E27FC236}">
                <a16:creationId xmlns:a16="http://schemas.microsoft.com/office/drawing/2014/main" id="{B2A96248-0A00-9041-CA4B-C46E94B2C926}"/>
              </a:ext>
            </a:extLst>
          </p:cNvPr>
          <p:cNvSpPr txBox="1">
            <a:spLocks/>
          </p:cNvSpPr>
          <p:nvPr/>
        </p:nvSpPr>
        <p:spPr>
          <a:xfrm>
            <a:off x="9319686" y="5094008"/>
            <a:ext cx="3029709" cy="6584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… only 14 placements </a:t>
            </a:r>
            <a:r>
              <a:rPr lang="en-US" sz="1800" dirty="0">
                <a:solidFill>
                  <a:schemeClr val="tx1"/>
                </a:solidFill>
              </a:rPr>
              <a:t>♕</a:t>
            </a:r>
          </a:p>
        </p:txBody>
      </p:sp>
    </p:spTree>
    <p:extLst>
      <p:ext uri="{BB962C8B-B14F-4D97-AF65-F5344CB8AC3E}">
        <p14:creationId xmlns:p14="http://schemas.microsoft.com/office/powerpoint/2010/main" val="3902592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AC1D-B715-8F3A-76D1-11F9CAD4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D288-3F1E-E957-BEF5-C19F125896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" y="95250"/>
            <a:ext cx="10058400" cy="822325"/>
          </a:xfrm>
        </p:spPr>
        <p:txBody>
          <a:bodyPr>
            <a:normAutofit/>
          </a:bodyPr>
          <a:lstStyle/>
          <a:p>
            <a:r>
              <a:rPr lang="en-US" dirty="0"/>
              <a:t>Performance: 	</a:t>
            </a:r>
            <a:r>
              <a:rPr lang="en-US" sz="3200" dirty="0"/>
              <a:t>board size n = 25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FAB26E-6E38-EBA5-9486-415DF3734977}"/>
              </a:ext>
            </a:extLst>
          </p:cNvPr>
          <p:cNvSpPr txBox="1">
            <a:spLocks/>
          </p:cNvSpPr>
          <p:nvPr/>
        </p:nvSpPr>
        <p:spPr>
          <a:xfrm>
            <a:off x="1393597" y="909621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Original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299E3DD-1B4E-A937-D12F-CE12598F7AA2}"/>
              </a:ext>
            </a:extLst>
          </p:cNvPr>
          <p:cNvSpPr txBox="1">
            <a:spLocks/>
          </p:cNvSpPr>
          <p:nvPr/>
        </p:nvSpPr>
        <p:spPr>
          <a:xfrm>
            <a:off x="1393597" y="1561875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23,652.4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1,216,776 nodes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CCF6DC-9949-EAAC-F06F-51313E02A4D8}"/>
              </a:ext>
            </a:extLst>
          </p:cNvPr>
          <p:cNvSpPr txBox="1">
            <a:spLocks/>
          </p:cNvSpPr>
          <p:nvPr/>
        </p:nvSpPr>
        <p:spPr>
          <a:xfrm>
            <a:off x="1393596" y="2493464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MRV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994783-7976-F703-0149-80DE8066C7AE}"/>
              </a:ext>
            </a:extLst>
          </p:cNvPr>
          <p:cNvSpPr txBox="1">
            <a:spLocks/>
          </p:cNvSpPr>
          <p:nvPr/>
        </p:nvSpPr>
        <p:spPr>
          <a:xfrm>
            <a:off x="1393596" y="3151959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25,458.3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1,216,776 nodes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8A4F180-AA16-628A-E62A-A914882DD030}"/>
              </a:ext>
            </a:extLst>
          </p:cNvPr>
          <p:cNvSpPr txBox="1">
            <a:spLocks/>
          </p:cNvSpPr>
          <p:nvPr/>
        </p:nvSpPr>
        <p:spPr>
          <a:xfrm>
            <a:off x="1393596" y="4075596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LCV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1A27E61-112A-595F-9CF4-62B491545F8F}"/>
              </a:ext>
            </a:extLst>
          </p:cNvPr>
          <p:cNvSpPr txBox="1">
            <a:spLocks/>
          </p:cNvSpPr>
          <p:nvPr/>
        </p:nvSpPr>
        <p:spPr>
          <a:xfrm>
            <a:off x="1393595" y="4734091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489,112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20,589,670 nodes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2BF181D-4313-93DD-2050-08D62341C65F}"/>
              </a:ext>
            </a:extLst>
          </p:cNvPr>
          <p:cNvSpPr txBox="1">
            <a:spLocks/>
          </p:cNvSpPr>
          <p:nvPr/>
        </p:nvSpPr>
        <p:spPr>
          <a:xfrm>
            <a:off x="4887831" y="3284530"/>
            <a:ext cx="6688705" cy="125288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Conclusion: </a:t>
            </a:r>
          </a:p>
          <a:p>
            <a:r>
              <a:rPr lang="en-US" sz="3200" dirty="0"/>
              <a:t>MRV &amp; LCV suck…?</a:t>
            </a:r>
          </a:p>
          <a:p>
            <a:r>
              <a:rPr lang="en-US" sz="1600" dirty="0"/>
              <a:t>Without filtering, MRV behaves the exact same as picking Queens in sequential order.</a:t>
            </a:r>
          </a:p>
          <a:p>
            <a:r>
              <a:rPr lang="en-US" sz="1600" dirty="0"/>
              <a:t>Similarly, LCV is </a:t>
            </a:r>
            <a:r>
              <a:rPr lang="en-US" sz="1600" b="1" dirty="0"/>
              <a:t>worse</a:t>
            </a:r>
            <a:r>
              <a:rPr lang="en-US" sz="1600" dirty="0"/>
              <a:t> because it wastes time deciding where to place a Queen.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D899CDB-EB5F-C966-E231-286C61BDD5F0}"/>
              </a:ext>
            </a:extLst>
          </p:cNvPr>
          <p:cNvSpPr txBox="1">
            <a:spLocks/>
          </p:cNvSpPr>
          <p:nvPr/>
        </p:nvSpPr>
        <p:spPr>
          <a:xfrm>
            <a:off x="4946572" y="917573"/>
            <a:ext cx="2033016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FC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838B93F-9C4B-D49F-8334-582404E24F8F}"/>
              </a:ext>
            </a:extLst>
          </p:cNvPr>
          <p:cNvSpPr txBox="1">
            <a:spLocks/>
          </p:cNvSpPr>
          <p:nvPr/>
        </p:nvSpPr>
        <p:spPr>
          <a:xfrm>
            <a:off x="4946572" y="1569827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833.378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19,097 nodes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DE711E4-83FC-1DA7-1029-55605F9EF7BA}"/>
              </a:ext>
            </a:extLst>
          </p:cNvPr>
          <p:cNvSpPr txBox="1">
            <a:spLocks/>
          </p:cNvSpPr>
          <p:nvPr/>
        </p:nvSpPr>
        <p:spPr>
          <a:xfrm>
            <a:off x="8422618" y="911332"/>
            <a:ext cx="2033016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ARC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4D8DD87-9FEE-F65A-004C-4AAFF380DE40}"/>
              </a:ext>
            </a:extLst>
          </p:cNvPr>
          <p:cNvSpPr txBox="1">
            <a:spLocks/>
          </p:cNvSpPr>
          <p:nvPr/>
        </p:nvSpPr>
        <p:spPr>
          <a:xfrm>
            <a:off x="8422618" y="1577780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857.581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2,547 nodes</a:t>
            </a:r>
          </a:p>
        </p:txBody>
      </p:sp>
    </p:spTree>
    <p:extLst>
      <p:ext uri="{BB962C8B-B14F-4D97-AF65-F5344CB8AC3E}">
        <p14:creationId xmlns:p14="http://schemas.microsoft.com/office/powerpoint/2010/main" val="1630429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C3002-8012-93A0-1505-CA19733D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18D61-E249-5FC8-A70B-0CD3563C418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" y="95250"/>
            <a:ext cx="10058400" cy="822325"/>
          </a:xfrm>
        </p:spPr>
        <p:txBody>
          <a:bodyPr>
            <a:normAutofit/>
          </a:bodyPr>
          <a:lstStyle/>
          <a:p>
            <a:r>
              <a:rPr lang="en-US" dirty="0"/>
              <a:t>Performance: 	</a:t>
            </a:r>
            <a:r>
              <a:rPr lang="en-US" sz="3200" dirty="0"/>
              <a:t>board size n = 25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06A12C-1B5C-1D71-626A-FE0E2744A948}"/>
              </a:ext>
            </a:extLst>
          </p:cNvPr>
          <p:cNvSpPr txBox="1">
            <a:spLocks/>
          </p:cNvSpPr>
          <p:nvPr/>
        </p:nvSpPr>
        <p:spPr>
          <a:xfrm>
            <a:off x="1393597" y="909621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Original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C3D710A-6018-F753-EE44-5A3F78B48100}"/>
              </a:ext>
            </a:extLst>
          </p:cNvPr>
          <p:cNvSpPr txBox="1">
            <a:spLocks/>
          </p:cNvSpPr>
          <p:nvPr/>
        </p:nvSpPr>
        <p:spPr>
          <a:xfrm>
            <a:off x="1393597" y="1561875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23,652.4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1,216,776 nodes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E7844A4-0AFE-D535-9B00-711FAA974E89}"/>
              </a:ext>
            </a:extLst>
          </p:cNvPr>
          <p:cNvSpPr txBox="1">
            <a:spLocks/>
          </p:cNvSpPr>
          <p:nvPr/>
        </p:nvSpPr>
        <p:spPr>
          <a:xfrm>
            <a:off x="1393596" y="2493464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MRV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FBB866-41BF-DD0E-E6F7-13B97B3380A7}"/>
              </a:ext>
            </a:extLst>
          </p:cNvPr>
          <p:cNvSpPr txBox="1">
            <a:spLocks/>
          </p:cNvSpPr>
          <p:nvPr/>
        </p:nvSpPr>
        <p:spPr>
          <a:xfrm>
            <a:off x="1393596" y="3151959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25,458.3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1,216,776 nodes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1556FB4-20AC-4A0D-CB3B-0066FC9C539A}"/>
              </a:ext>
            </a:extLst>
          </p:cNvPr>
          <p:cNvSpPr txBox="1">
            <a:spLocks/>
          </p:cNvSpPr>
          <p:nvPr/>
        </p:nvSpPr>
        <p:spPr>
          <a:xfrm>
            <a:off x="1393596" y="4075596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LCV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9682DE6-1A98-3B41-DD7C-20CA18C70A31}"/>
              </a:ext>
            </a:extLst>
          </p:cNvPr>
          <p:cNvSpPr txBox="1">
            <a:spLocks/>
          </p:cNvSpPr>
          <p:nvPr/>
        </p:nvSpPr>
        <p:spPr>
          <a:xfrm>
            <a:off x="1393595" y="4734091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489,112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20,589,670 nodes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1459E36-981E-BEFD-4F2A-4F138F04BFD4}"/>
              </a:ext>
            </a:extLst>
          </p:cNvPr>
          <p:cNvSpPr txBox="1">
            <a:spLocks/>
          </p:cNvSpPr>
          <p:nvPr/>
        </p:nvSpPr>
        <p:spPr>
          <a:xfrm>
            <a:off x="4946572" y="917573"/>
            <a:ext cx="2033016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FC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DD3EB2C-B0A2-4797-F88E-ECF8F4577455}"/>
              </a:ext>
            </a:extLst>
          </p:cNvPr>
          <p:cNvSpPr txBox="1">
            <a:spLocks/>
          </p:cNvSpPr>
          <p:nvPr/>
        </p:nvSpPr>
        <p:spPr>
          <a:xfrm>
            <a:off x="4946572" y="1569827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833.378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19,097 nodes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6639A6F-BF8E-DCA2-D9C6-689CCD3DCC41}"/>
              </a:ext>
            </a:extLst>
          </p:cNvPr>
          <p:cNvSpPr txBox="1">
            <a:spLocks/>
          </p:cNvSpPr>
          <p:nvPr/>
        </p:nvSpPr>
        <p:spPr>
          <a:xfrm>
            <a:off x="8422618" y="911332"/>
            <a:ext cx="2033016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ARC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68D974E-D268-5722-0E81-106BBD1A0211}"/>
              </a:ext>
            </a:extLst>
          </p:cNvPr>
          <p:cNvSpPr txBox="1">
            <a:spLocks/>
          </p:cNvSpPr>
          <p:nvPr/>
        </p:nvSpPr>
        <p:spPr>
          <a:xfrm>
            <a:off x="8422618" y="1577780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857.581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2,547 nodes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991518D-195A-C8EB-36F7-7FBDF0824BD9}"/>
              </a:ext>
            </a:extLst>
          </p:cNvPr>
          <p:cNvSpPr txBox="1">
            <a:spLocks/>
          </p:cNvSpPr>
          <p:nvPr/>
        </p:nvSpPr>
        <p:spPr>
          <a:xfrm>
            <a:off x="4946572" y="4199268"/>
            <a:ext cx="275824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LCV + FC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FDF33CE-24AB-1328-0D37-E60A4899A251}"/>
              </a:ext>
            </a:extLst>
          </p:cNvPr>
          <p:cNvSpPr txBox="1">
            <a:spLocks/>
          </p:cNvSpPr>
          <p:nvPr/>
        </p:nvSpPr>
        <p:spPr>
          <a:xfrm>
            <a:off x="8422618" y="4199267"/>
            <a:ext cx="275824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LCV + ARC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29AFEA7-B868-C727-8E76-0726E713EDFB}"/>
              </a:ext>
            </a:extLst>
          </p:cNvPr>
          <p:cNvSpPr txBox="1">
            <a:spLocks/>
          </p:cNvSpPr>
          <p:nvPr/>
        </p:nvSpPr>
        <p:spPr>
          <a:xfrm>
            <a:off x="8422618" y="4857763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19.19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55 nodes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52A2869-D8F9-EFF5-4CDF-E395CF9CC36E}"/>
              </a:ext>
            </a:extLst>
          </p:cNvPr>
          <p:cNvSpPr txBox="1">
            <a:spLocks/>
          </p:cNvSpPr>
          <p:nvPr/>
        </p:nvSpPr>
        <p:spPr>
          <a:xfrm>
            <a:off x="4946571" y="4857763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22.95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412 nodes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CFE383-CBB4-3E12-841A-D14CF5B904E8}"/>
              </a:ext>
            </a:extLst>
          </p:cNvPr>
          <p:cNvSpPr txBox="1">
            <a:spLocks/>
          </p:cNvSpPr>
          <p:nvPr/>
        </p:nvSpPr>
        <p:spPr>
          <a:xfrm>
            <a:off x="4946571" y="2493462"/>
            <a:ext cx="275824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MRV + FC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659397-F9B2-2B14-F1D5-55434513E20C}"/>
              </a:ext>
            </a:extLst>
          </p:cNvPr>
          <p:cNvSpPr txBox="1">
            <a:spLocks/>
          </p:cNvSpPr>
          <p:nvPr/>
        </p:nvSpPr>
        <p:spPr>
          <a:xfrm>
            <a:off x="8422617" y="2493461"/>
            <a:ext cx="275824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MRV + ARC 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F3E919C-8EC0-3DFE-5610-8969F2D7C309}"/>
              </a:ext>
            </a:extLst>
          </p:cNvPr>
          <p:cNvSpPr txBox="1">
            <a:spLocks/>
          </p:cNvSpPr>
          <p:nvPr/>
        </p:nvSpPr>
        <p:spPr>
          <a:xfrm>
            <a:off x="8422617" y="3151957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17.48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59 nodes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E294714-66AA-C025-6D71-D3D3E7E177D1}"/>
              </a:ext>
            </a:extLst>
          </p:cNvPr>
          <p:cNvSpPr txBox="1">
            <a:spLocks/>
          </p:cNvSpPr>
          <p:nvPr/>
        </p:nvSpPr>
        <p:spPr>
          <a:xfrm>
            <a:off x="4946570" y="3151957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9.402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214 nodes</a:t>
            </a:r>
          </a:p>
        </p:txBody>
      </p:sp>
    </p:spTree>
    <p:extLst>
      <p:ext uri="{BB962C8B-B14F-4D97-AF65-F5344CB8AC3E}">
        <p14:creationId xmlns:p14="http://schemas.microsoft.com/office/powerpoint/2010/main" val="3631826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B90A6-92A3-0F22-FD2C-7918F65DA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8B06-7C88-4104-71F9-2974A8365C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" y="95250"/>
            <a:ext cx="10058400" cy="822325"/>
          </a:xfrm>
        </p:spPr>
        <p:txBody>
          <a:bodyPr>
            <a:normAutofit/>
          </a:bodyPr>
          <a:lstStyle/>
          <a:p>
            <a:r>
              <a:rPr lang="en-US" dirty="0"/>
              <a:t>Performance: 	</a:t>
            </a:r>
            <a:r>
              <a:rPr lang="en-US" sz="3200" dirty="0"/>
              <a:t>board size n = 25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C46088-2785-3E4D-1777-625630EF657F}"/>
              </a:ext>
            </a:extLst>
          </p:cNvPr>
          <p:cNvSpPr txBox="1">
            <a:spLocks/>
          </p:cNvSpPr>
          <p:nvPr/>
        </p:nvSpPr>
        <p:spPr>
          <a:xfrm>
            <a:off x="1393597" y="909621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Original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E8A12E8-EA18-64D6-6EBB-0B42AAEBB8EF}"/>
              </a:ext>
            </a:extLst>
          </p:cNvPr>
          <p:cNvSpPr txBox="1">
            <a:spLocks/>
          </p:cNvSpPr>
          <p:nvPr/>
        </p:nvSpPr>
        <p:spPr>
          <a:xfrm>
            <a:off x="1393597" y="1561875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Execution time: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23,652.4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ms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Nodes expanded: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1,216,776 nodes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B9B02B5-09E7-98BE-8ECE-7D2B596B679E}"/>
              </a:ext>
            </a:extLst>
          </p:cNvPr>
          <p:cNvSpPr txBox="1">
            <a:spLocks/>
          </p:cNvSpPr>
          <p:nvPr/>
        </p:nvSpPr>
        <p:spPr>
          <a:xfrm>
            <a:off x="1393596" y="2493464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MRV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757511-2AE1-B5B9-25FF-29D6203F59CC}"/>
              </a:ext>
            </a:extLst>
          </p:cNvPr>
          <p:cNvSpPr txBox="1">
            <a:spLocks/>
          </p:cNvSpPr>
          <p:nvPr/>
        </p:nvSpPr>
        <p:spPr>
          <a:xfrm>
            <a:off x="1393596" y="3151959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Execution time: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25,458.3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ms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Nodes expanded: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1,216,776 nodes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F57CF6-9B87-66F2-4D7C-0631B22B69F9}"/>
              </a:ext>
            </a:extLst>
          </p:cNvPr>
          <p:cNvSpPr txBox="1">
            <a:spLocks/>
          </p:cNvSpPr>
          <p:nvPr/>
        </p:nvSpPr>
        <p:spPr>
          <a:xfrm>
            <a:off x="1393596" y="4075596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LCV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84CD827-7B4C-8C8C-B579-0A2D665C5682}"/>
              </a:ext>
            </a:extLst>
          </p:cNvPr>
          <p:cNvSpPr txBox="1">
            <a:spLocks/>
          </p:cNvSpPr>
          <p:nvPr/>
        </p:nvSpPr>
        <p:spPr>
          <a:xfrm>
            <a:off x="1393595" y="4734091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Execution time: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489,112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ms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Nodes expanded: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20,589,670 nodes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FCBDA34-D4CB-0CA9-F57B-E1145275C1DE}"/>
              </a:ext>
            </a:extLst>
          </p:cNvPr>
          <p:cNvSpPr txBox="1">
            <a:spLocks/>
          </p:cNvSpPr>
          <p:nvPr/>
        </p:nvSpPr>
        <p:spPr>
          <a:xfrm>
            <a:off x="4946572" y="917573"/>
            <a:ext cx="2033016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FC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B802294-F87D-0A39-7A2B-F00ABD818104}"/>
              </a:ext>
            </a:extLst>
          </p:cNvPr>
          <p:cNvSpPr txBox="1">
            <a:spLocks/>
          </p:cNvSpPr>
          <p:nvPr/>
        </p:nvSpPr>
        <p:spPr>
          <a:xfrm>
            <a:off x="4946572" y="1569827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Execution time: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833.378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ms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Nodes expanded: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19,097 nodes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1671ED4-D162-0C6C-7B66-DA37EC17CE99}"/>
              </a:ext>
            </a:extLst>
          </p:cNvPr>
          <p:cNvSpPr txBox="1">
            <a:spLocks/>
          </p:cNvSpPr>
          <p:nvPr/>
        </p:nvSpPr>
        <p:spPr>
          <a:xfrm>
            <a:off x="8422618" y="911332"/>
            <a:ext cx="2033016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ARC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34A98-9F8A-FE92-DAF2-1D61A2EF1C2C}"/>
              </a:ext>
            </a:extLst>
          </p:cNvPr>
          <p:cNvSpPr txBox="1">
            <a:spLocks/>
          </p:cNvSpPr>
          <p:nvPr/>
        </p:nvSpPr>
        <p:spPr>
          <a:xfrm>
            <a:off x="8422618" y="1577780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Execution time: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857.581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ms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Nodes expanded: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2,547 nodes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3FF9467-2BE4-AC5C-B481-7CF033B950A8}"/>
              </a:ext>
            </a:extLst>
          </p:cNvPr>
          <p:cNvSpPr txBox="1">
            <a:spLocks/>
          </p:cNvSpPr>
          <p:nvPr/>
        </p:nvSpPr>
        <p:spPr>
          <a:xfrm>
            <a:off x="4946572" y="3295752"/>
            <a:ext cx="275824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MRV + LCV + FC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E4A9647-6571-F3DB-91A8-80DD45969BA3}"/>
              </a:ext>
            </a:extLst>
          </p:cNvPr>
          <p:cNvSpPr txBox="1">
            <a:spLocks/>
          </p:cNvSpPr>
          <p:nvPr/>
        </p:nvSpPr>
        <p:spPr>
          <a:xfrm>
            <a:off x="8422618" y="3295751"/>
            <a:ext cx="275824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MRV + LCV + ARC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EF8B299-80E7-9A6B-890D-AD4E77A21E0F}"/>
              </a:ext>
            </a:extLst>
          </p:cNvPr>
          <p:cNvSpPr txBox="1">
            <a:spLocks/>
          </p:cNvSpPr>
          <p:nvPr/>
        </p:nvSpPr>
        <p:spPr>
          <a:xfrm>
            <a:off x="8422618" y="3954247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8.94307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26 nodes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994AA16-7C1E-F756-4B16-85CA19998B1D}"/>
              </a:ext>
            </a:extLst>
          </p:cNvPr>
          <p:cNvSpPr txBox="1">
            <a:spLocks/>
          </p:cNvSpPr>
          <p:nvPr/>
        </p:nvSpPr>
        <p:spPr>
          <a:xfrm>
            <a:off x="4946571" y="3954247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3.24645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26 nodes</a:t>
            </a:r>
          </a:p>
        </p:txBody>
      </p:sp>
    </p:spTree>
    <p:extLst>
      <p:ext uri="{BB962C8B-B14F-4D97-AF65-F5344CB8AC3E}">
        <p14:creationId xmlns:p14="http://schemas.microsoft.com/office/powerpoint/2010/main" val="2346552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F2080-CB24-6F1F-85DD-715BF402B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BD401F6B-8430-4392-A9C1-E7AF1A47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EF4CA56-5E10-46FC-B8C0-89FC75EA4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DDF8255-E454-48AF-9A12-E4291F413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1D1EAA85-C9C8-4F7A-A070-2E277096A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EC7DF-AF85-B8CC-DC8B-10A60749BFC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Performance: board size n = 25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B3C6C5E1-C479-A5BE-A482-A1D22127A7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939" y="607621"/>
            <a:ext cx="5824825" cy="3601683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D893D02E-69A7-40EF-BDED-47B502106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2C1ABF22-DE31-283C-3921-D49E4E5E3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5235" y="607621"/>
            <a:ext cx="5809534" cy="3592228"/>
          </a:xfrm>
          <a:prstGeom prst="rect">
            <a:avLst/>
          </a:prstGeom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533E1D9-B151-4746-926D-23491CB6E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018A11AE-068C-4AC3-A768-21262FAE5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91633FC-7B70-4FFC-8242-49BA7AC14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5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E2D90-B5AC-F449-1E38-2B59B3AE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FD1A4-4D56-69A3-08A6-D629A2688C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" y="95250"/>
            <a:ext cx="10058400" cy="822325"/>
          </a:xfrm>
        </p:spPr>
        <p:txBody>
          <a:bodyPr>
            <a:normAutofit/>
          </a:bodyPr>
          <a:lstStyle/>
          <a:p>
            <a:r>
              <a:rPr lang="en-US" dirty="0"/>
              <a:t>Performance: Demo </a:t>
            </a:r>
            <a:r>
              <a:rPr lang="en-US" sz="3200" dirty="0"/>
              <a:t>size n = 30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21A6A5-C873-969E-3EED-30CE04F1B3A4}"/>
              </a:ext>
            </a:extLst>
          </p:cNvPr>
          <p:cNvSpPr txBox="1">
            <a:spLocks/>
          </p:cNvSpPr>
          <p:nvPr/>
        </p:nvSpPr>
        <p:spPr>
          <a:xfrm>
            <a:off x="1393597" y="909621"/>
            <a:ext cx="406603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ARC + MRV + LCV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4183BEF-9534-44BE-A6B8-DF149B9C8B39}"/>
              </a:ext>
            </a:extLst>
          </p:cNvPr>
          <p:cNvSpPr txBox="1">
            <a:spLocks/>
          </p:cNvSpPr>
          <p:nvPr/>
        </p:nvSpPr>
        <p:spPr>
          <a:xfrm>
            <a:off x="1393597" y="1561875"/>
            <a:ext cx="3748377" cy="1252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Execution time:</a:t>
            </a:r>
          </a:p>
          <a:p>
            <a:r>
              <a:rPr lang="en-US" sz="1800" dirty="0"/>
              <a:t>	27.45 </a:t>
            </a:r>
            <a:r>
              <a:rPr lang="en-US" sz="1800" dirty="0" err="1"/>
              <a:t>ms</a:t>
            </a:r>
            <a:endParaRPr lang="en-US" sz="1800" dirty="0"/>
          </a:p>
          <a:p>
            <a:r>
              <a:rPr lang="en-US" sz="1800" dirty="0"/>
              <a:t>Nodes expanded:</a:t>
            </a:r>
          </a:p>
          <a:p>
            <a:r>
              <a:rPr lang="en-US" sz="1800" dirty="0"/>
              <a:t>	38 nodes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EB7220-A4A3-95D6-5B43-B3F292F6B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633" y="964285"/>
            <a:ext cx="4949310" cy="493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09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81DDF-9C56-60D4-D354-B90815CC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0A6F9E3C-103D-6532-1B40-F3A724B60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704466"/>
            <a:ext cx="12192000" cy="562105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F4DD81A-56FF-4DC3-CC26-34FBF3B85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04466"/>
            <a:ext cx="12192000" cy="562105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141ACB07-72AB-076A-E22B-0BDB763F52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704466"/>
            <a:ext cx="12192000" cy="5621051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01F31DD-0D9D-60BC-1B1D-271A2BAA172F}"/>
              </a:ext>
            </a:extLst>
          </p:cNvPr>
          <p:cNvSpPr txBox="1">
            <a:spLocks/>
          </p:cNvSpPr>
          <p:nvPr/>
        </p:nvSpPr>
        <p:spPr>
          <a:xfrm>
            <a:off x="76200" y="0"/>
            <a:ext cx="10058400" cy="709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Performance: Time Taken Moving Average</a:t>
            </a:r>
          </a:p>
        </p:txBody>
      </p:sp>
    </p:spTree>
    <p:extLst>
      <p:ext uri="{BB962C8B-B14F-4D97-AF65-F5344CB8AC3E}">
        <p14:creationId xmlns:p14="http://schemas.microsoft.com/office/powerpoint/2010/main" val="360301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16040-4CCA-23BC-0A33-99562FD5E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AA3CE69C-8837-76F5-3084-7F75A43E10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704466"/>
            <a:ext cx="12192000" cy="56210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B5B033-60C8-984E-87AD-90C387D7A3F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" y="0"/>
            <a:ext cx="10058400" cy="709915"/>
          </a:xfrm>
        </p:spPr>
        <p:txBody>
          <a:bodyPr>
            <a:normAutofit/>
          </a:bodyPr>
          <a:lstStyle/>
          <a:p>
            <a:r>
              <a:rPr lang="en-US" sz="4000" dirty="0"/>
              <a:t>Performance: Storage Moving Average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BC78B9A-0C15-B9D4-A1E2-8FECA57827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04466"/>
            <a:ext cx="12192000" cy="562105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AFF3A14-C49D-B3F1-B71F-BD4A4552A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704466"/>
            <a:ext cx="12192000" cy="562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0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D0932-CEE7-224D-986D-2D84C4707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141E-DEBC-79B3-7284-1B32CEA304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" y="95250"/>
            <a:ext cx="10058400" cy="822325"/>
          </a:xfrm>
        </p:spPr>
        <p:txBody>
          <a:bodyPr>
            <a:normAutofit/>
          </a:bodyPr>
          <a:lstStyle/>
          <a:p>
            <a:r>
              <a:rPr lang="en-US" dirty="0"/>
              <a:t>Observations</a:t>
            </a:r>
            <a:endParaRPr lang="en-US" sz="32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C8E053B-7F02-A405-722B-F56BE3C7A637}"/>
              </a:ext>
            </a:extLst>
          </p:cNvPr>
          <p:cNvSpPr txBox="1">
            <a:spLocks/>
          </p:cNvSpPr>
          <p:nvPr/>
        </p:nvSpPr>
        <p:spPr>
          <a:xfrm>
            <a:off x="859204" y="917575"/>
            <a:ext cx="275824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Time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D2E9947-65DF-0FEE-EBA5-43723BE266CD}"/>
              </a:ext>
            </a:extLst>
          </p:cNvPr>
          <p:cNvSpPr txBox="1">
            <a:spLocks/>
          </p:cNvSpPr>
          <p:nvPr/>
        </p:nvSpPr>
        <p:spPr>
          <a:xfrm>
            <a:off x="6952721" y="917575"/>
            <a:ext cx="2758242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Nodes Expanded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253066F-312C-4086-F678-04B344457173}"/>
              </a:ext>
            </a:extLst>
          </p:cNvPr>
          <p:cNvSpPr txBox="1">
            <a:spLocks/>
          </p:cNvSpPr>
          <p:nvPr/>
        </p:nvSpPr>
        <p:spPr>
          <a:xfrm>
            <a:off x="6952721" y="1576069"/>
            <a:ext cx="4293637" cy="28131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ARC visits less nodes than FC?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ARC will eliminate more possible boards than FC without having to visit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 combination of ARC+MRV+LCV will visit a consistently low number of boards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However, it’s still expensive to compute…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208C4C1-8AA5-924C-C6AC-DEC008D459CE}"/>
              </a:ext>
            </a:extLst>
          </p:cNvPr>
          <p:cNvSpPr txBox="1">
            <a:spLocks/>
          </p:cNvSpPr>
          <p:nvPr/>
        </p:nvSpPr>
        <p:spPr>
          <a:xfrm>
            <a:off x="859204" y="1576070"/>
            <a:ext cx="5084396" cy="32976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FC is faster than ARC?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ARC spends more time propagating through domains</a:t>
            </a:r>
          </a:p>
          <a:p>
            <a:r>
              <a:rPr lang="en-US" sz="1800" dirty="0"/>
              <a:t> </a:t>
            </a:r>
          </a:p>
          <a:p>
            <a:r>
              <a:rPr lang="en-US" sz="1800" dirty="0"/>
              <a:t>LCV isn’t always an improvement?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On large boards, LCV can take longer to sort domains than FC+MRV alone takes to visit a lot of 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r>
              <a:rPr lang="en-US" sz="1800" dirty="0"/>
              <a:t>MRV vs LCV?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While LCV costs time to sort domains, our solver easily knows the size of each Queen’s domain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MRV is powerful because it “fails fast,” and we only need a single solution.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C288808-4A09-8D20-8454-F5B3AE586567}"/>
              </a:ext>
            </a:extLst>
          </p:cNvPr>
          <p:cNvSpPr txBox="1">
            <a:spLocks/>
          </p:cNvSpPr>
          <p:nvPr/>
        </p:nvSpPr>
        <p:spPr>
          <a:xfrm>
            <a:off x="859204" y="5047741"/>
            <a:ext cx="10058400" cy="43643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In general, as the board size increases, there will be a lot more variation in how long the algorithm takes to find a solution: </a:t>
            </a:r>
          </a:p>
          <a:p>
            <a:r>
              <a:rPr lang="en-US" sz="1800" dirty="0"/>
              <a:t>The solver is still able to get a solution on the first try, but the number of possible placements is still increasing quadratically - as well as the upper limit of how long it </a:t>
            </a:r>
            <a:r>
              <a:rPr lang="en-US" sz="1800" i="1" dirty="0"/>
              <a:t>might</a:t>
            </a:r>
            <a:r>
              <a:rPr lang="en-US" sz="1800" dirty="0"/>
              <a:t> take.</a:t>
            </a:r>
          </a:p>
        </p:txBody>
      </p:sp>
    </p:spTree>
    <p:extLst>
      <p:ext uri="{BB962C8B-B14F-4D97-AF65-F5344CB8AC3E}">
        <p14:creationId xmlns:p14="http://schemas.microsoft.com/office/powerpoint/2010/main" val="3626402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17207-0305-4974-562D-A7D2497A4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8B88B-0362-8250-8161-6933A5D1AC8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" y="95250"/>
            <a:ext cx="10058400" cy="822325"/>
          </a:xfrm>
        </p:spPr>
        <p:txBody>
          <a:bodyPr>
            <a:normAutofit/>
          </a:bodyPr>
          <a:lstStyle/>
          <a:p>
            <a:r>
              <a:rPr lang="en-US" dirty="0"/>
              <a:t>Memory or Time?</a:t>
            </a:r>
            <a:endParaRPr lang="en-US" sz="32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6F1EC5C-474B-19FB-691B-059A77461ED3}"/>
              </a:ext>
            </a:extLst>
          </p:cNvPr>
          <p:cNvSpPr txBox="1">
            <a:spLocks/>
          </p:cNvSpPr>
          <p:nvPr/>
        </p:nvSpPr>
        <p:spPr>
          <a:xfrm>
            <a:off x="859203" y="917575"/>
            <a:ext cx="4103321" cy="658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The Memory Bottleneck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A1F2985B-BB4E-CBA3-2678-8AC876F1D1BF}"/>
              </a:ext>
            </a:extLst>
          </p:cNvPr>
          <p:cNvSpPr txBox="1">
            <a:spLocks/>
          </p:cNvSpPr>
          <p:nvPr/>
        </p:nvSpPr>
        <p:spPr>
          <a:xfrm>
            <a:off x="859204" y="1576070"/>
            <a:ext cx="5084396" cy="32976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919CFD0-93C5-9F4B-E6D0-744BDADF953F}"/>
              </a:ext>
            </a:extLst>
          </p:cNvPr>
          <p:cNvSpPr txBox="1">
            <a:spLocks/>
          </p:cNvSpPr>
          <p:nvPr/>
        </p:nvSpPr>
        <p:spPr>
          <a:xfrm>
            <a:off x="859203" y="1465580"/>
            <a:ext cx="10125788" cy="1999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dirty="0"/>
              <a:t>While FC may be faster in a lot of situations, time is a theoretically infinite resource.</a:t>
            </a:r>
          </a:p>
          <a:p>
            <a:pPr>
              <a:lnSpc>
                <a:spcPct val="100000"/>
              </a:lnSpc>
            </a:pPr>
            <a:r>
              <a:rPr lang="en-US" sz="1800" b="1" dirty="0"/>
              <a:t>Memory, however, is not.</a:t>
            </a:r>
          </a:p>
          <a:p>
            <a:pPr>
              <a:lnSpc>
                <a:spcPct val="100000"/>
              </a:lnSpc>
            </a:pPr>
            <a:endParaRPr lang="en-US" sz="1800" b="1" dirty="0"/>
          </a:p>
          <a:p>
            <a:pPr>
              <a:lnSpc>
                <a:spcPct val="100000"/>
              </a:lnSpc>
            </a:pPr>
            <a:r>
              <a:rPr lang="en-US" sz="1800" dirty="0"/>
              <a:t>While you might be able to afford to wait 1,000,000 years, you may not even have the hardware to run an algorithm that demands too much space.</a:t>
            </a:r>
          </a:p>
        </p:txBody>
      </p:sp>
      <p:pic>
        <p:nvPicPr>
          <p:cNvPr id="7" name="Picture 6" descr="Graph comparing processor and memory performance from 1985 to 2010, showing a significant increase in processor performance.">
            <a:extLst>
              <a:ext uri="{FF2B5EF4-FFF2-40B4-BE49-F238E27FC236}">
                <a16:creationId xmlns:a16="http://schemas.microsoft.com/office/drawing/2014/main" id="{3F83C06B-B372-A4BA-E9DC-D65F69CAA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746" y="3115308"/>
            <a:ext cx="6264508" cy="298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6645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767</TotalTime>
  <Words>1285</Words>
  <Application>Microsoft Office PowerPoint</Application>
  <PresentationFormat>Widescreen</PresentationFormat>
  <Paragraphs>374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Sitka Display</vt:lpstr>
      <vt:lpstr>Wingdings</vt:lpstr>
      <vt:lpstr>Retrospect</vt:lpstr>
      <vt:lpstr>Constraint Satisfaction Problem Methods for N-Queens</vt:lpstr>
      <vt:lpstr>Early Implementation Ideas</vt:lpstr>
      <vt:lpstr>Implementation  with CSP methods</vt:lpstr>
      <vt:lpstr>CSP Methods: Filtering</vt:lpstr>
      <vt:lpstr>CSP Methods: Ordering</vt:lpstr>
      <vt:lpstr>Performance:  board size n = 25</vt:lpstr>
      <vt:lpstr>Performance:  board size n = 25</vt:lpstr>
      <vt:lpstr>Performance:  board size n = 25</vt:lpstr>
      <vt:lpstr>Performance: board size n = 25</vt:lpstr>
      <vt:lpstr>Performance: Demo size n = 30</vt:lpstr>
      <vt:lpstr>PowerPoint Presentation</vt:lpstr>
      <vt:lpstr>Performance: Storage Moving Average</vt:lpstr>
      <vt:lpstr>Observations</vt:lpstr>
      <vt:lpstr>Memory or Time?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Elliot Violet Klauke</dc:creator>
  <cp:lastModifiedBy>Elliot Violet Klauke</cp:lastModifiedBy>
  <cp:revision>22</cp:revision>
  <dcterms:created xsi:type="dcterms:W3CDTF">2026-05-07T19:40:30Z</dcterms:created>
  <dcterms:modified xsi:type="dcterms:W3CDTF">2026-08-11T01:18:41Z</dcterms:modified>
</cp:coreProperties>
</file>